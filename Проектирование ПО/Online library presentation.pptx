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Roboto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bold.fntdata"/><Relationship Id="rId11" Type="http://schemas.openxmlformats.org/officeDocument/2006/relationships/slide" Target="slides/slide6.xml"/><Relationship Id="rId22" Type="http://schemas.openxmlformats.org/officeDocument/2006/relationships/font" Target="fonts/Roboto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edium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1e4f8dd83b_0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g31e4f8dd83b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e4f8dd83b_0_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31e4f8dd83b_0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e4f8dd83b_0_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31e4f8dd83b_0_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e4f8dd83b_0_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1e4f8dd83b_0_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e4f8dd83b_0_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1e4f8dd83b_0_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e4f8dd83b_0_1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31e4f8dd83b_0_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e4f8dd83b_0_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1e4f8dd83b_0_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e4f8dd83b_0_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1e4f8dd83b_0_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e4f8dd83b_0_1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1e4f8dd83b_0_1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">
  <p:cSld name="Photo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1916241" y="759934"/>
            <a:ext cx="1472100" cy="14721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3"/>
          <p:cNvSpPr/>
          <p:nvPr>
            <p:ph idx="3" type="pic"/>
          </p:nvPr>
        </p:nvSpPr>
        <p:spPr>
          <a:xfrm>
            <a:off x="3876150" y="759934"/>
            <a:ext cx="1472100" cy="14721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3"/>
          <p:cNvSpPr/>
          <p:nvPr>
            <p:ph idx="4" type="pic"/>
          </p:nvPr>
        </p:nvSpPr>
        <p:spPr>
          <a:xfrm>
            <a:off x="5836058" y="759933"/>
            <a:ext cx="1472100" cy="14721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3"/>
          <p:cNvSpPr/>
          <p:nvPr>
            <p:ph idx="5" type="pic"/>
          </p:nvPr>
        </p:nvSpPr>
        <p:spPr>
          <a:xfrm>
            <a:off x="1916241" y="2605543"/>
            <a:ext cx="1472100" cy="14721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3"/>
          <p:cNvSpPr/>
          <p:nvPr>
            <p:ph idx="6" type="pic"/>
          </p:nvPr>
        </p:nvSpPr>
        <p:spPr>
          <a:xfrm>
            <a:off x="3876150" y="2605542"/>
            <a:ext cx="1472100" cy="14721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3"/>
          <p:cNvSpPr/>
          <p:nvPr>
            <p:ph idx="7" type="pic"/>
          </p:nvPr>
        </p:nvSpPr>
        <p:spPr>
          <a:xfrm>
            <a:off x="5836058" y="2605542"/>
            <a:ext cx="1472100" cy="147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Slide 1">
  <p:cSld name="Master Slide 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search.rsl.ru/#colf=12.11.2024&amp;l=570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/>
        </p:nvSpPr>
        <p:spPr>
          <a:xfrm>
            <a:off x="2044303" y="1890117"/>
            <a:ext cx="50553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Roboto"/>
              <a:buNone/>
            </a:pPr>
            <a:r>
              <a:rPr b="0" i="0" lang="en" sz="5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CONFERENCE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6"/>
          <p:cNvSpPr txBox="1"/>
          <p:nvPr/>
        </p:nvSpPr>
        <p:spPr>
          <a:xfrm>
            <a:off x="2640211" y="2546151"/>
            <a:ext cx="3863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None/>
            </a:pPr>
            <a:r>
              <a:rPr b="0" baseline="30000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MULTIPURPOSE POWERPOINT &amp; KEYNOTE TEMPLATE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 txBox="1"/>
          <p:nvPr/>
        </p:nvSpPr>
        <p:spPr>
          <a:xfrm>
            <a:off x="-9525" y="0"/>
            <a:ext cx="9162900" cy="5138700"/>
          </a:xfrm>
          <a:prstGeom prst="rect">
            <a:avLst/>
          </a:prstGeom>
          <a:gradFill>
            <a:gsLst>
              <a:gs pos="0">
                <a:srgbClr val="034383"/>
              </a:gs>
              <a:gs pos="100000">
                <a:srgbClr val="63C8D1"/>
              </a:gs>
            </a:gsLst>
            <a:lin ang="18719907" scaled="0"/>
          </a:gra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6"/>
          <p:cNvSpPr txBox="1"/>
          <p:nvPr/>
        </p:nvSpPr>
        <p:spPr>
          <a:xfrm>
            <a:off x="66925" y="1607302"/>
            <a:ext cx="91440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"/>
              <a:buNone/>
            </a:pPr>
            <a:r>
              <a:rPr lang="en" sz="4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Программное обеспечение для </a:t>
            </a:r>
            <a:endParaRPr sz="4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"/>
              <a:buNone/>
            </a:pPr>
            <a:r>
              <a:t/>
            </a:r>
            <a:endParaRPr sz="4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"/>
              <a:buNone/>
            </a:pPr>
            <a:r>
              <a:t/>
            </a:r>
            <a:endParaRPr sz="4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"/>
              <a:buNone/>
            </a:pPr>
            <a:r>
              <a:t/>
            </a:r>
            <a:endParaRPr sz="4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"/>
              <a:buNone/>
            </a:pPr>
            <a:r>
              <a:t/>
            </a:r>
            <a:endParaRPr sz="4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"/>
              <a:buNone/>
            </a:pPr>
            <a:r>
              <a:t/>
            </a:r>
            <a:endParaRPr sz="4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"/>
              <a:buNone/>
            </a:pPr>
            <a:r>
              <a:t/>
            </a:r>
            <a:endParaRPr sz="4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"/>
              <a:buNone/>
            </a:pPr>
            <a:r>
              <a:rPr lang="en" sz="4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библиотек</a:t>
            </a:r>
            <a:endParaRPr b="0" i="0" sz="4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 txBox="1"/>
          <p:nvPr/>
        </p:nvSpPr>
        <p:spPr>
          <a:xfrm>
            <a:off x="3309342" y="4642842"/>
            <a:ext cx="2525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Roboto"/>
              <a:buNone/>
            </a:pPr>
            <a:r>
              <a:rPr baseline="30000" lang="en"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Москва</a:t>
            </a:r>
            <a:r>
              <a:rPr b="0" baseline="30000" i="0" lang="en" sz="2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2024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6440875" y="2571750"/>
            <a:ext cx="2525400" cy="19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Проект сделали</a:t>
            </a: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Белова Е.Ю.,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Кабанова К.А.,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Маряшкин Р.А.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Институт: СПИНТех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Команда: KRK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25" y="178450"/>
            <a:ext cx="914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Национальный исследовательский университет «Московский институт электронной техники»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Google Shape;74;p17"/>
          <p:cNvCxnSpPr/>
          <p:nvPr/>
        </p:nvCxnSpPr>
        <p:spPr>
          <a:xfrm>
            <a:off x="4108959" y="654594"/>
            <a:ext cx="0" cy="3834300"/>
          </a:xfrm>
          <a:prstGeom prst="straightConnector1">
            <a:avLst/>
          </a:prstGeom>
          <a:noFill/>
          <a:ln cap="flat" cmpd="sng" w="63500">
            <a:solidFill>
              <a:srgbClr val="FF751E"/>
            </a:solidFill>
            <a:prstDash val="solid"/>
            <a:miter lim="262144"/>
            <a:headEnd len="sm" w="sm" type="none"/>
            <a:tailEnd len="sm" w="sm" type="none"/>
          </a:ln>
        </p:spPr>
      </p:cxnSp>
      <p:sp>
        <p:nvSpPr>
          <p:cNvPr id="75" name="Google Shape;75;p17"/>
          <p:cNvSpPr txBox="1"/>
          <p:nvPr/>
        </p:nvSpPr>
        <p:spPr>
          <a:xfrm>
            <a:off x="4452425" y="740900"/>
            <a:ext cx="4582500" cy="3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2500"/>
              <a:buFont typeface="Roboto"/>
              <a:buNone/>
            </a:pPr>
            <a:r>
              <a:rPr b="1" baseline="30000" i="1" lang="en" sz="26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Данное программное обеспечение позволит:</a:t>
            </a:r>
            <a:endParaRPr b="1" baseline="30000" i="1" sz="2600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2600"/>
              <a:buFont typeface="Roboto"/>
              <a:buChar char="●"/>
            </a:pPr>
            <a:r>
              <a:rPr baseline="30000" i="1" lang="en" sz="26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Создавать и редактировать базу данных читателей и их электронных билетов, библиотечного фонда и библиотекарей</a:t>
            </a:r>
            <a:endParaRPr baseline="30000" i="1" sz="2600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2600"/>
              <a:buFont typeface="Roboto"/>
              <a:buChar char="●"/>
            </a:pPr>
            <a:r>
              <a:rPr baseline="30000" i="1" lang="en" sz="26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Организовывать процесс бронирования и выдачи, заказа и покупки книг</a:t>
            </a:r>
            <a:endParaRPr baseline="30000" i="1" sz="2600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2600"/>
              <a:buFont typeface="Roboto"/>
              <a:buChar char="●"/>
            </a:pPr>
            <a:r>
              <a:rPr baseline="30000" i="1" lang="en" sz="26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Искать по автору, части наименования, году издания или инвентарному номеру</a:t>
            </a:r>
            <a:endParaRPr baseline="30000" i="1" sz="2600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2600"/>
              <a:buFont typeface="Roboto"/>
              <a:buChar char="●"/>
            </a:pPr>
            <a:r>
              <a:rPr baseline="30000" i="1" lang="en" sz="26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Добавлять книги в избранные</a:t>
            </a:r>
            <a:endParaRPr b="0" baseline="30000" i="1" sz="2600" u="none" cap="none" strike="noStrike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descr="Cybercrime: Today and the Future" id="76" name="Google Shape;76;p17"/>
          <p:cNvSpPr txBox="1"/>
          <p:nvPr/>
        </p:nvSpPr>
        <p:spPr>
          <a:xfrm>
            <a:off x="60722" y="-57150"/>
            <a:ext cx="114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descr="Cybercrime: Today and the Future" id="77" name="Google Shape;77;p17"/>
          <p:cNvSpPr txBox="1"/>
          <p:nvPr/>
        </p:nvSpPr>
        <p:spPr>
          <a:xfrm>
            <a:off x="117872" y="0"/>
            <a:ext cx="114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descr="Cybercrime: Today and the Future" id="78" name="Google Shape;78;p17"/>
          <p:cNvSpPr txBox="1"/>
          <p:nvPr/>
        </p:nvSpPr>
        <p:spPr>
          <a:xfrm>
            <a:off x="175022" y="57150"/>
            <a:ext cx="114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413375" y="740900"/>
            <a:ext cx="3434700" cy="3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3600"/>
              <a:buFont typeface="Roboto"/>
              <a:buNone/>
            </a:pPr>
            <a:r>
              <a:rPr b="1" baseline="30000" lang="en" sz="29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П</a:t>
            </a:r>
            <a:r>
              <a:rPr b="1" baseline="30000" lang="en" sz="29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b="1" baseline="30000" lang="en" sz="29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 для Библиотек предоставит пользователям возможность большого выбора книг и быстрого бронирования. Также сайт имеет простое администрирование, содержит все необходимые  элементы управления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774244" y="811406"/>
            <a:ext cx="75792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" sz="43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Цели и задачи</a:t>
            </a:r>
            <a:endParaRPr b="1" baseline="30000" sz="4300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" name="Google Shape;85;p18"/>
          <p:cNvCxnSpPr/>
          <p:nvPr/>
        </p:nvCxnSpPr>
        <p:spPr>
          <a:xfrm>
            <a:off x="4295775" y="1563886"/>
            <a:ext cx="704700" cy="0"/>
          </a:xfrm>
          <a:prstGeom prst="straightConnector1">
            <a:avLst/>
          </a:prstGeom>
          <a:noFill/>
          <a:ln cap="flat" cmpd="sng" w="63500">
            <a:solidFill>
              <a:srgbClr val="FF751E"/>
            </a:solidFill>
            <a:prstDash val="solid"/>
            <a:miter lim="262144"/>
            <a:headEnd len="sm" w="sm" type="none"/>
            <a:tailEnd len="sm" w="sm" type="none"/>
          </a:ln>
        </p:spPr>
      </p:cxnSp>
      <p:grpSp>
        <p:nvGrpSpPr>
          <p:cNvPr id="86" name="Google Shape;86;p18"/>
          <p:cNvGrpSpPr/>
          <p:nvPr/>
        </p:nvGrpSpPr>
        <p:grpSpPr>
          <a:xfrm>
            <a:off x="1011893" y="1832983"/>
            <a:ext cx="3415519" cy="855896"/>
            <a:chOff x="2698144" y="5392939"/>
            <a:chExt cx="8690887" cy="2282999"/>
          </a:xfrm>
        </p:grpSpPr>
        <p:sp>
          <p:nvSpPr>
            <p:cNvPr id="87" name="Google Shape;87;p18"/>
            <p:cNvSpPr txBox="1"/>
            <p:nvPr/>
          </p:nvSpPr>
          <p:spPr>
            <a:xfrm>
              <a:off x="4007531" y="5591838"/>
              <a:ext cx="7381500" cy="208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" lIns="19050" spcFirstLastPara="1" rIns="19050" wrap="square" tIns="190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5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Модернизация библиотек</a:t>
              </a:r>
              <a:endParaRPr i="0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" name="Google Shape;88;p18"/>
            <p:cNvSpPr/>
            <p:nvPr/>
          </p:nvSpPr>
          <p:spPr>
            <a:xfrm>
              <a:off x="2698144" y="5392939"/>
              <a:ext cx="949200" cy="949200"/>
            </a:xfrm>
            <a:prstGeom prst="ellipse">
              <a:avLst/>
            </a:prstGeom>
            <a:solidFill>
              <a:srgbClr val="034383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baseline="30000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" name="Google Shape;89;p18"/>
            <p:cNvSpPr txBox="1"/>
            <p:nvPr/>
          </p:nvSpPr>
          <p:spPr>
            <a:xfrm>
              <a:off x="2748949" y="5550144"/>
              <a:ext cx="873300" cy="84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Roboto Medium"/>
                <a:buNone/>
              </a:pPr>
              <a:r>
                <a:rPr b="0" baseline="30000" i="0" lang="en" sz="18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1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18"/>
          <p:cNvGrpSpPr/>
          <p:nvPr/>
        </p:nvGrpSpPr>
        <p:grpSpPr>
          <a:xfrm>
            <a:off x="1012134" y="2662000"/>
            <a:ext cx="5199254" cy="781329"/>
            <a:chOff x="2698144" y="7979713"/>
            <a:chExt cx="13864677" cy="2084100"/>
          </a:xfrm>
        </p:grpSpPr>
        <p:sp>
          <p:nvSpPr>
            <p:cNvPr id="91" name="Google Shape;91;p18"/>
            <p:cNvSpPr/>
            <p:nvPr/>
          </p:nvSpPr>
          <p:spPr>
            <a:xfrm>
              <a:off x="2698144" y="8003059"/>
              <a:ext cx="949200" cy="949200"/>
            </a:xfrm>
            <a:prstGeom prst="ellipse">
              <a:avLst/>
            </a:prstGeom>
            <a:solidFill>
              <a:srgbClr val="0E6193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baseline="30000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" name="Google Shape;92;p18"/>
            <p:cNvSpPr txBox="1"/>
            <p:nvPr/>
          </p:nvSpPr>
          <p:spPr>
            <a:xfrm>
              <a:off x="2748949" y="8160286"/>
              <a:ext cx="873300" cy="84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Roboto Medium"/>
                <a:buNone/>
              </a:pPr>
              <a:r>
                <a:rPr b="0" baseline="30000" i="0" lang="en" sz="18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2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8"/>
            <p:cNvSpPr txBox="1"/>
            <p:nvPr/>
          </p:nvSpPr>
          <p:spPr>
            <a:xfrm>
              <a:off x="4007521" y="7979713"/>
              <a:ext cx="12555300" cy="208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" lIns="19050" spcFirstLastPara="1" rIns="19050" wrap="square" tIns="19050">
              <a:noAutofit/>
            </a:bodyPr>
            <a:lstStyle/>
            <a:p>
              <a:pPr indent="0" lvl="0" marL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5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Упрощение работы библиотекарей и посетителей</a:t>
              </a:r>
              <a:endPara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2300"/>
                <a:buFont typeface="Roboto"/>
                <a:buNone/>
              </a:pPr>
              <a:r>
                <a:t/>
              </a:r>
              <a:endParaRPr baseline="30000" sz="23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4" name="Google Shape;94;p18"/>
          <p:cNvGrpSpPr/>
          <p:nvPr/>
        </p:nvGrpSpPr>
        <p:grpSpPr>
          <a:xfrm>
            <a:off x="1012134" y="3614478"/>
            <a:ext cx="5938713" cy="789068"/>
            <a:chOff x="2698144" y="10235490"/>
            <a:chExt cx="15836568" cy="2103620"/>
          </a:xfrm>
        </p:grpSpPr>
        <p:sp>
          <p:nvSpPr>
            <p:cNvPr id="95" name="Google Shape;95;p18"/>
            <p:cNvSpPr/>
            <p:nvPr/>
          </p:nvSpPr>
          <p:spPr>
            <a:xfrm>
              <a:off x="2698144" y="10235490"/>
              <a:ext cx="949200" cy="949200"/>
            </a:xfrm>
            <a:prstGeom prst="ellipse">
              <a:avLst/>
            </a:prstGeom>
            <a:solidFill>
              <a:srgbClr val="258EAC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baseline="30000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" name="Google Shape;96;p18"/>
            <p:cNvSpPr txBox="1"/>
            <p:nvPr/>
          </p:nvSpPr>
          <p:spPr>
            <a:xfrm>
              <a:off x="2748949" y="10392590"/>
              <a:ext cx="873300" cy="8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Roboto Medium"/>
                <a:buNone/>
              </a:pPr>
              <a:r>
                <a:rPr b="0" baseline="30000" i="0" lang="en" sz="18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3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8"/>
            <p:cNvSpPr txBox="1"/>
            <p:nvPr/>
          </p:nvSpPr>
          <p:spPr>
            <a:xfrm>
              <a:off x="4007512" y="10255010"/>
              <a:ext cx="14527200" cy="208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" lIns="19050" spcFirstLastPara="1" rIns="19050" wrap="square" tIns="19050">
              <a:noAutofit/>
            </a:bodyPr>
            <a:lstStyle/>
            <a:p>
              <a:pPr indent="0" lvl="0" marL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5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Автоматизации учета и контроля библиотечного фонда</a:t>
              </a:r>
              <a:endParaRPr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/>
        </p:nvSpPr>
        <p:spPr>
          <a:xfrm>
            <a:off x="1000125" y="635794"/>
            <a:ext cx="69366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75" lIns="81550" spcFirstLastPara="1" rIns="81550" wrap="square" tIns="4077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4300"/>
              <a:buFont typeface="Roboto"/>
              <a:buNone/>
            </a:pPr>
            <a:r>
              <a:rPr b="1" baseline="30000" lang="en" sz="43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Актуальность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652669" y="1191038"/>
            <a:ext cx="7838700" cy="9450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724219" y="1416684"/>
            <a:ext cx="7767000" cy="26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2400"/>
              <a:buFont typeface="Roboto"/>
              <a:buChar char="●"/>
            </a:pPr>
            <a:r>
              <a:rPr b="1" baseline="30000" i="1" lang="en" sz="24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Со стремительным развитием цифровых технологий, библиотечное ПО становится необходим</a:t>
            </a:r>
            <a:r>
              <a:rPr b="1" baseline="30000" i="1" lang="en" sz="24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ым</a:t>
            </a:r>
            <a:r>
              <a:rPr b="1" baseline="30000" i="1" lang="en" sz="24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 для автоматизации процессов, управления фондами и обслуживания пользователей. Оно позволяет библиотекам эффективно адаптироваться к новым реалиям.</a:t>
            </a:r>
            <a:endParaRPr b="1" baseline="30000" i="1" sz="2400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2400"/>
              <a:buFont typeface="Roboto"/>
              <a:buChar char="●"/>
            </a:pPr>
            <a:r>
              <a:rPr b="1" baseline="30000" i="1" lang="en" sz="24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Библиотечное ПО может быть адаптировано под специфические нужды каждой библиотеки, что позволяет учитывать местные особенности и предпочтения пользователей.</a:t>
            </a:r>
            <a:endParaRPr b="1" baseline="30000" i="1" sz="2400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724225" y="4033703"/>
            <a:ext cx="7879500" cy="744300"/>
          </a:xfrm>
          <a:prstGeom prst="rect">
            <a:avLst/>
          </a:prstGeom>
          <a:solidFill>
            <a:srgbClr val="D9D2E9"/>
          </a:solidFill>
          <a:ln cap="flat" cmpd="sng" w="25400">
            <a:solidFill>
              <a:srgbClr val="674E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808525" y="4109898"/>
            <a:ext cx="77109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1800"/>
              <a:buFont typeface="Roboto"/>
              <a:buNone/>
            </a:pPr>
            <a:r>
              <a:rPr b="1" baseline="30000" i="1" lang="en" sz="23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Сайт</a:t>
            </a:r>
            <a:r>
              <a:rPr b="1" baseline="30000" i="1" lang="en" sz="23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, который мы разработали, позволяет пользователям создавать свои профили, сохранять избранные книги, что улучшает пользовательский опыт.</a:t>
            </a:r>
            <a:endParaRPr b="1" baseline="30000" i="1" sz="2300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/>
        </p:nvSpPr>
        <p:spPr>
          <a:xfrm>
            <a:off x="1021875" y="461484"/>
            <a:ext cx="69366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75" lIns="81550" spcFirstLastPara="1" rIns="81550" wrap="square" tIns="4077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4300"/>
              <a:buFont typeface="Roboto"/>
              <a:buNone/>
            </a:pPr>
            <a:r>
              <a:rPr b="1" baseline="30000" lang="en" sz="43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Аналоги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746016" y="1779731"/>
            <a:ext cx="77670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1800"/>
              <a:buFont typeface="Roboto"/>
              <a:buNone/>
            </a:pPr>
            <a:r>
              <a:rPr baseline="30000" lang="en" sz="23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Наш же сайт прост в понимании и работе, разберутся все возрастные группы.</a:t>
            </a:r>
            <a:endParaRPr b="0" baseline="30000" sz="2300" u="none" cap="none" strike="noStrike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689766" y="1586650"/>
            <a:ext cx="7879500" cy="9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689775" y="1124050"/>
            <a:ext cx="8112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2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Сайт государственных библиотек.</a:t>
            </a:r>
            <a:r>
              <a:rPr baseline="30000" lang="en" sz="23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 Плохая визуализация, не user-friendly interface. </a:t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875" y="2110975"/>
            <a:ext cx="4570274" cy="262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/>
        </p:nvSpPr>
        <p:spPr>
          <a:xfrm>
            <a:off x="724266" y="635794"/>
            <a:ext cx="7838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75" lIns="81550" spcFirstLastPara="1" rIns="81550" wrap="square" tIns="4077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4300"/>
              <a:buFont typeface="Roboto"/>
              <a:buNone/>
            </a:pPr>
            <a:r>
              <a:rPr b="1" baseline="30000" lang="en" sz="43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Стэк технологий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652669" y="1214063"/>
            <a:ext cx="7838700" cy="94500"/>
          </a:xfrm>
          <a:prstGeom prst="rect">
            <a:avLst/>
          </a:prstGeom>
          <a:solidFill>
            <a:srgbClr val="63C8D1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1453903" y="2104055"/>
            <a:ext cx="3282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b="0" baseline="30000" i="0" lang="en" sz="28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1147781" y="1683764"/>
            <a:ext cx="1047000" cy="1047000"/>
          </a:xfrm>
          <a:prstGeom prst="ellipse">
            <a:avLst/>
          </a:prstGeom>
          <a:solidFill>
            <a:srgbClr val="258EAC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1512113" y="2104055"/>
            <a:ext cx="3282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b="0" baseline="30000" i="0" lang="en" sz="28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4120017" y="1683764"/>
            <a:ext cx="1047000" cy="104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4479909" y="2104055"/>
            <a:ext cx="327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b="0" baseline="30000" i="0" lang="en" sz="28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233559" y="2880431"/>
            <a:ext cx="2838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Roboto"/>
              <a:buNone/>
            </a:pPr>
            <a:r>
              <a:rPr b="1" baseline="30000" lang="en" sz="23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DJANGO</a:t>
            </a:r>
            <a:endParaRPr b="1" baseline="30000" i="0" sz="2300" u="none" cap="none" strike="noStrike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baseline="30000" i="0" sz="2300" u="none" cap="none" strike="noStrike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Roboto"/>
              <a:buNone/>
            </a:pPr>
            <a:r>
              <a:t/>
            </a:r>
            <a:endParaRPr b="0" baseline="30000" i="0" sz="2300" u="none" cap="none" strike="noStrike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7063350" y="1683769"/>
            <a:ext cx="1047000" cy="104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7428276" y="2104059"/>
            <a:ext cx="327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b="0" baseline="30000" i="0" lang="en" sz="28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2954053" y="3454730"/>
            <a:ext cx="3282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b="0" baseline="30000" i="0" lang="en" sz="28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2647931" y="3034439"/>
            <a:ext cx="1047000" cy="104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3012263" y="3454730"/>
            <a:ext cx="3282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baseline="30000" lang="en" sz="28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4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1733709" y="4231106"/>
            <a:ext cx="2838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Roboto"/>
              <a:buNone/>
            </a:pPr>
            <a:r>
              <a:rPr b="1" baseline="30000" lang="en" sz="23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SQLITE3</a:t>
            </a:r>
            <a:endParaRPr b="1" baseline="30000" i="0" sz="2300" u="none" cap="none" strike="noStrike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baseline="30000" i="0" sz="2300" u="none" cap="none" strike="noStrike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Roboto"/>
              <a:buNone/>
            </a:pPr>
            <a:r>
              <a:t/>
            </a:r>
            <a:endParaRPr b="0" baseline="30000" i="0" sz="2300" u="none" cap="none" strike="noStrike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5670617" y="3034439"/>
            <a:ext cx="1047000" cy="104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6030509" y="3454730"/>
            <a:ext cx="327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baseline="30000" lang="en" sz="28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5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4807203" y="4231106"/>
            <a:ext cx="28383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Roboto"/>
              <a:buNone/>
            </a:pPr>
            <a:r>
              <a:rPr b="1" baseline="30000" lang="en" sz="23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GIT</a:t>
            </a:r>
            <a:endParaRPr b="1" baseline="30000" i="0" sz="2300" u="none" cap="none" strike="noStrike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Roboto"/>
              <a:buNone/>
            </a:pPr>
            <a:r>
              <a:t/>
            </a:r>
            <a:endParaRPr b="1" baseline="30000" i="0" sz="2300" u="none" cap="none" strike="noStrike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600" y="1562675"/>
            <a:ext cx="1227150" cy="1227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21"/>
          <p:cNvGrpSpPr/>
          <p:nvPr/>
        </p:nvGrpSpPr>
        <p:grpSpPr>
          <a:xfrm>
            <a:off x="6167703" y="1683786"/>
            <a:ext cx="2838300" cy="2542370"/>
            <a:chOff x="3256603" y="1628661"/>
            <a:chExt cx="2838300" cy="2542370"/>
          </a:xfrm>
        </p:grpSpPr>
        <p:sp>
          <p:nvSpPr>
            <p:cNvPr id="139" name="Google Shape;139;p21"/>
            <p:cNvSpPr txBox="1"/>
            <p:nvPr/>
          </p:nvSpPr>
          <p:spPr>
            <a:xfrm>
              <a:off x="3256603" y="2880431"/>
              <a:ext cx="2838300" cy="12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2000"/>
                <a:buFont typeface="Roboto"/>
                <a:buNone/>
              </a:pPr>
              <a:r>
                <a:rPr b="1" baseline="30000" lang="en" sz="2300">
                  <a:solidFill>
                    <a:srgbClr val="222222"/>
                  </a:solidFill>
                  <a:latin typeface="Roboto"/>
                  <a:ea typeface="Roboto"/>
                  <a:cs typeface="Roboto"/>
                  <a:sym typeface="Roboto"/>
                </a:rPr>
                <a:t>Python</a:t>
              </a:r>
              <a:endParaRPr b="1" baseline="30000" i="0" sz="2300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2000"/>
                <a:buFont typeface="Roboto"/>
                <a:buNone/>
              </a:pPr>
              <a:r>
                <a:t/>
              </a:r>
              <a:endParaRPr b="1" baseline="30000" i="0" sz="2300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40" name="Google Shape;140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95925" y="1628661"/>
              <a:ext cx="1157238" cy="11572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1" name="Google Shape;14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2850" y="3002225"/>
            <a:ext cx="1047000" cy="104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21"/>
          <p:cNvGrpSpPr/>
          <p:nvPr/>
        </p:nvGrpSpPr>
        <p:grpSpPr>
          <a:xfrm>
            <a:off x="3209900" y="1532674"/>
            <a:ext cx="2838300" cy="3256357"/>
            <a:chOff x="6167850" y="1576174"/>
            <a:chExt cx="2838300" cy="3256357"/>
          </a:xfrm>
        </p:grpSpPr>
        <p:sp>
          <p:nvSpPr>
            <p:cNvPr id="143" name="Google Shape;143;p21"/>
            <p:cNvSpPr txBox="1"/>
            <p:nvPr/>
          </p:nvSpPr>
          <p:spPr>
            <a:xfrm>
              <a:off x="6167850" y="2880431"/>
              <a:ext cx="2838300" cy="19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2000"/>
                <a:buFont typeface="Roboto"/>
                <a:buNone/>
              </a:pPr>
              <a:r>
                <a:rPr b="1" baseline="30000" lang="en" sz="2300">
                  <a:solidFill>
                    <a:srgbClr val="222222"/>
                  </a:solidFill>
                  <a:latin typeface="Roboto"/>
                  <a:ea typeface="Roboto"/>
                  <a:cs typeface="Roboto"/>
                  <a:sym typeface="Roboto"/>
                </a:rPr>
                <a:t>HTML, CSS, JavaScript</a:t>
              </a:r>
              <a:endParaRPr b="1" baseline="30000" i="0" sz="2300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2000"/>
                <a:buFont typeface="Roboto"/>
                <a:buNone/>
              </a:pPr>
              <a:r>
                <a:t/>
              </a:r>
              <a:endParaRPr b="0" baseline="30000" i="0" sz="2300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44" name="Google Shape;144;p21"/>
            <p:cNvPicPr preferRelativeResize="0"/>
            <p:nvPr/>
          </p:nvPicPr>
          <p:blipFill rotWithShape="1">
            <a:blip r:embed="rId6">
              <a:alphaModFix/>
            </a:blip>
            <a:srcRect b="0" l="6210" r="-6209" t="0"/>
            <a:stretch/>
          </p:blipFill>
          <p:spPr>
            <a:xfrm>
              <a:off x="7049472" y="1576174"/>
              <a:ext cx="1227150" cy="126221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5" name="Google Shape;14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47923" y="3165975"/>
            <a:ext cx="1047000" cy="104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412641" y="356213"/>
            <a:ext cx="8318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75" lIns="81550" spcFirstLastPara="1" rIns="81550" wrap="square" tIns="4077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4300"/>
              <a:buFont typeface="Roboto"/>
              <a:buNone/>
            </a:pPr>
            <a:r>
              <a:rPr b="1" baseline="30000" lang="en" sz="43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Дальнейшее развитие проекта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709844" y="4034931"/>
            <a:ext cx="7879500" cy="489300"/>
          </a:xfrm>
          <a:prstGeom prst="rect">
            <a:avLst/>
          </a:prstGeom>
          <a:solidFill>
            <a:srgbClr val="FFFFDD"/>
          </a:solidFill>
          <a:ln cap="flat" cmpd="sng" w="254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846859" y="4154856"/>
            <a:ext cx="76881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Перенос сайта на сервер для постоянного доступа</a:t>
            </a:r>
            <a:endParaRPr baseline="30000" i="0" sz="2300" u="none" cap="none" strike="noStrike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632259" y="994500"/>
            <a:ext cx="7879500" cy="94500"/>
          </a:xfrm>
          <a:prstGeom prst="rect">
            <a:avLst/>
          </a:prstGeom>
          <a:solidFill>
            <a:srgbClr val="DCBD23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851700" y="1199175"/>
            <a:ext cx="78795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3360"/>
                </a:solidFill>
              </a:rPr>
              <a:t>Добавление новых библиотек, книг, регистрация новых пользователей</a:t>
            </a:r>
            <a:endParaRPr sz="1300">
              <a:solidFill>
                <a:srgbClr val="013360"/>
              </a:solidFill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861225" y="1622050"/>
            <a:ext cx="78036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3360"/>
                </a:solidFill>
              </a:rPr>
              <a:t>Добавление в ПО раздел электронных книг для чтения онлайн</a:t>
            </a:r>
            <a:endParaRPr sz="1300">
              <a:solidFill>
                <a:srgbClr val="013360"/>
              </a:solidFill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851700" y="1991175"/>
            <a:ext cx="78921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3360"/>
                </a:solidFill>
              </a:rPr>
              <a:t>Создание системы рекомендаций книг по истории прочтения, интересам и предпочтениям</a:t>
            </a:r>
            <a:endParaRPr sz="1300">
              <a:solidFill>
                <a:srgbClr val="013360"/>
              </a:solidFill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861225" y="2433550"/>
            <a:ext cx="81231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3360"/>
                </a:solidFill>
              </a:rPr>
              <a:t>Создание страницы новостей. Д</a:t>
            </a:r>
            <a:r>
              <a:rPr lang="en" sz="1300">
                <a:solidFill>
                  <a:srgbClr val="013360"/>
                </a:solidFill>
              </a:rPr>
              <a:t>обавление туда новостей </a:t>
            </a:r>
            <a:r>
              <a:rPr lang="en" sz="1300">
                <a:solidFill>
                  <a:srgbClr val="013360"/>
                </a:solidFill>
              </a:rPr>
              <a:t>библиотек (например обновления по времени работы), новых авторов и их произведений, статей и мероприятий</a:t>
            </a:r>
            <a:endParaRPr sz="1300">
              <a:solidFill>
                <a:srgbClr val="013360"/>
              </a:solidFill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845413" y="2982975"/>
            <a:ext cx="78921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3360"/>
                </a:solidFill>
              </a:rPr>
              <a:t>Создание мероприятий, тематических вечеров и читательских клубов по интересам. </a:t>
            </a:r>
            <a:r>
              <a:rPr lang="en" sz="1300">
                <a:solidFill>
                  <a:srgbClr val="013360"/>
                </a:solidFill>
              </a:rPr>
              <a:t>Добавление запись на них через наше ПО</a:t>
            </a:r>
            <a:endParaRPr sz="1300">
              <a:solidFill>
                <a:srgbClr val="013360"/>
              </a:solidFill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819675" y="3529950"/>
            <a:ext cx="80538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3360"/>
                </a:solidFill>
              </a:rPr>
              <a:t>Создание </a:t>
            </a:r>
            <a:r>
              <a:rPr lang="en" sz="1300">
                <a:solidFill>
                  <a:srgbClr val="013360"/>
                </a:solidFill>
              </a:rPr>
              <a:t>форума </a:t>
            </a:r>
            <a:r>
              <a:rPr lang="en" sz="1300">
                <a:solidFill>
                  <a:srgbClr val="013360"/>
                </a:solidFill>
              </a:rPr>
              <a:t>для обсуждения книг и авторов</a:t>
            </a:r>
            <a:endParaRPr sz="1300">
              <a:solidFill>
                <a:srgbClr val="01336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/>
        </p:nvSpPr>
        <p:spPr>
          <a:xfrm>
            <a:off x="992950" y="412094"/>
            <a:ext cx="69366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75" lIns="81550" spcFirstLastPara="1" rIns="81550" wrap="square" tIns="4077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4300"/>
              <a:buFont typeface="Roboto"/>
              <a:buNone/>
            </a:pPr>
            <a:r>
              <a:rPr b="1" baseline="30000" lang="en" sz="43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Итоги и выводы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734816" y="2386816"/>
            <a:ext cx="7838700" cy="945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561425" y="2744325"/>
            <a:ext cx="8185500" cy="1958700"/>
          </a:xfrm>
          <a:prstGeom prst="rect">
            <a:avLst/>
          </a:prstGeom>
          <a:solidFill>
            <a:srgbClr val="FCE5CD"/>
          </a:solidFill>
          <a:ln cap="flat" cmpd="sng" w="25400">
            <a:solidFill>
              <a:srgbClr val="FF751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608075" y="2800350"/>
            <a:ext cx="8092200" cy="19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i="1" lang="en" sz="25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	Наше ПО:</a:t>
            </a:r>
            <a:endParaRPr baseline="30000" i="1" sz="2500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2500"/>
              <a:buFont typeface="Roboto"/>
              <a:buChar char="●"/>
            </a:pPr>
            <a:r>
              <a:rPr baseline="30000" i="1" lang="en" sz="25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Облегчило отчетность и учет работы библиотеки</a:t>
            </a:r>
            <a:endParaRPr baseline="30000" i="1" sz="2500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2500"/>
              <a:buFont typeface="Roboto"/>
              <a:buChar char="●"/>
            </a:pPr>
            <a:r>
              <a:rPr baseline="30000" i="1" lang="en" sz="25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Позволило интегрировать новые функции в работу библиотеки в будущем</a:t>
            </a:r>
            <a:endParaRPr baseline="30000" i="1" sz="2500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2500"/>
              <a:buFont typeface="Roboto"/>
              <a:buChar char="●"/>
            </a:pPr>
            <a:r>
              <a:rPr baseline="30000" i="1" lang="en" sz="25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Упростило процесс выдачи и возврата книг</a:t>
            </a:r>
            <a:endParaRPr baseline="30000" i="1" sz="2500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2500"/>
              <a:buFont typeface="Roboto"/>
              <a:buChar char="●"/>
            </a:pPr>
            <a:r>
              <a:rPr baseline="30000" i="1" lang="en" sz="25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Позволило анализировать предпочтения пользователей</a:t>
            </a:r>
            <a:endParaRPr b="1" baseline="30000" i="1" sz="2300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3"/>
          <p:cNvSpPr txBox="1"/>
          <p:nvPr/>
        </p:nvSpPr>
        <p:spPr>
          <a:xfrm>
            <a:off x="474300" y="1035000"/>
            <a:ext cx="8445300" cy="1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0"/>
              </a:buClr>
              <a:buSzPts val="1700"/>
              <a:buFont typeface="Roboto"/>
              <a:buNone/>
            </a:pPr>
            <a:r>
              <a:rPr baseline="30000" lang="en" sz="2500">
                <a:solidFill>
                  <a:srgbClr val="013360"/>
                </a:solidFill>
                <a:latin typeface="Roboto"/>
                <a:ea typeface="Roboto"/>
                <a:cs typeface="Roboto"/>
                <a:sym typeface="Roboto"/>
              </a:rPr>
              <a:t>Программное обеспечение для библиотек значительно улучшило автоматизацию работы и облегчило обслуживание пользователей, что привело к повышению эффективности работы библиотеки и снижению времени на выполнение рутинных задач</a:t>
            </a:r>
            <a:endParaRPr baseline="30000" sz="2500">
              <a:solidFill>
                <a:srgbClr val="0133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/>
          <p:nvPr/>
        </p:nvSpPr>
        <p:spPr>
          <a:xfrm>
            <a:off x="-338575" y="1290650"/>
            <a:ext cx="4125900" cy="23544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034383"/>
              </a:gs>
              <a:gs pos="100000">
                <a:srgbClr val="63C8D1"/>
              </a:gs>
            </a:gsLst>
            <a:lin ang="18719907" scaled="0"/>
          </a:gra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baseline="3000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4" name="Google Shape;174;p24"/>
          <p:cNvGrpSpPr/>
          <p:nvPr/>
        </p:nvGrpSpPr>
        <p:grpSpPr>
          <a:xfrm>
            <a:off x="4191582" y="1516260"/>
            <a:ext cx="4451063" cy="1649659"/>
            <a:chOff x="-130926" y="357809"/>
            <a:chExt cx="11869500" cy="4399091"/>
          </a:xfrm>
        </p:grpSpPr>
        <p:sp>
          <p:nvSpPr>
            <p:cNvPr id="175" name="Google Shape;175;p24"/>
            <p:cNvSpPr txBox="1"/>
            <p:nvPr/>
          </p:nvSpPr>
          <p:spPr>
            <a:xfrm>
              <a:off x="0" y="357809"/>
              <a:ext cx="1042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" lIns="19050" spcFirstLastPara="1" rIns="19050" wrap="square" tIns="190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baseline="30000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76" name="Google Shape;176;p24"/>
            <p:cNvCxnSpPr/>
            <p:nvPr/>
          </p:nvCxnSpPr>
          <p:spPr>
            <a:xfrm>
              <a:off x="12700" y="3293241"/>
              <a:ext cx="1879200" cy="0"/>
            </a:xfrm>
            <a:prstGeom prst="straightConnector1">
              <a:avLst/>
            </a:prstGeom>
            <a:noFill/>
            <a:ln cap="flat" cmpd="sng" w="63500">
              <a:solidFill>
                <a:srgbClr val="FF751E"/>
              </a:solidFill>
              <a:prstDash val="solid"/>
              <a:miter lim="262144"/>
              <a:headEnd len="sm" w="sm" type="none"/>
              <a:tailEnd len="sm" w="sm" type="none"/>
            </a:ln>
          </p:spPr>
        </p:cxnSp>
        <p:sp>
          <p:nvSpPr>
            <p:cNvPr id="177" name="Google Shape;177;p24"/>
            <p:cNvSpPr txBox="1"/>
            <p:nvPr/>
          </p:nvSpPr>
          <p:spPr>
            <a:xfrm>
              <a:off x="-130926" y="3546100"/>
              <a:ext cx="11869500" cy="12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" lIns="19050" spcFirstLastPara="1" rIns="19050" wrap="square" tIns="190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3360"/>
                </a:buClr>
                <a:buSzPts val="2700"/>
                <a:buFont typeface="Roboto"/>
                <a:buNone/>
              </a:pPr>
              <a:r>
                <a:rPr lang="en" sz="2700">
                  <a:solidFill>
                    <a:srgbClr val="013360"/>
                  </a:solidFill>
                  <a:latin typeface="Roboto"/>
                  <a:ea typeface="Roboto"/>
                  <a:cs typeface="Roboto"/>
                  <a:sym typeface="Roboto"/>
                </a:rPr>
                <a:t>Спасибо за внимание!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